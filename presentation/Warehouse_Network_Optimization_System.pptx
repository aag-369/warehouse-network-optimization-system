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6-1.jpg" ContentType="image/jpg"/>
  <Override PartName="/ppt/media/image-7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 loaded</c:v>
                </c:pt>
              </c:strCache>
            </c:strRef>
          </c:tx>
          <c:spPr>
            <a:solidFill>
              <a:srgbClr val="2C7A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9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Geography &amp; Network</c:v>
                  </c:pt>
                  <c:pt idx="1">
                    <c:v>Product &amp; Supply</c:v>
                  </c:pt>
                  <c:pt idx="2">
                    <c:v>Inventory</c:v>
                  </c:pt>
                  <c:pt idx="3">
                    <c:v>Demand &amp; Orders</c:v>
                  </c:pt>
                  <c:pt idx="4">
                    <c:v>Transportation</c:v>
                  </c:pt>
                  <c:pt idx="5">
                    <c:v>Optimization</c:v>
                  </c:pt>
                  <c:pt idx="6">
                    <c:v>Security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</c:v>
                </c:pt>
                <c:pt idx="1">
                  <c:v>59</c:v>
                </c:pt>
                <c:pt idx="2">
                  <c:v>54</c:v>
                </c:pt>
                <c:pt idx="3">
                  <c:v>67</c:v>
                </c:pt>
                <c:pt idx="4">
                  <c:v>66</c:v>
                </c:pt>
                <c:pt idx="5">
                  <c:v>41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39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9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b"/>
        <c:majorGridlines>
          <c:spPr>
            <a:ln w="12700" cap="flat">
              <a:solidFill>
                <a:srgbClr val="E4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4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D3E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F3D3E"/>
                </a:solidFill>
                <a:latin typeface="Cambria"/>
              </a:rPr>
              <a:t>Cost saving achieved per optimizer run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saving %</c:v>
                </c:pt>
              </c:strCache>
            </c:strRef>
          </c:tx>
          <c:spPr>
            <a:solidFill>
              <a:srgbClr val="2C7A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9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7A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7A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7A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Fuel Shock
MILP</c:v>
                  </c:pt>
                  <c:pt idx="1">
                    <c:v>Peak Season
MILP</c:v>
                  </c:pt>
                  <c:pt idx="2">
                    <c:v>Baseline
MILP</c:v>
                  </c:pt>
                  <c:pt idx="3">
                    <c:v>Baseline
GA</c:v>
                  </c:pt>
                  <c:pt idx="4">
                    <c:v>Peak Season
SA</c:v>
                  </c:pt>
                  <c:pt idx="5">
                    <c:v>Green Network
PSO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11.28</c:v>
                </c:pt>
                <c:pt idx="1">
                  <c:v>10.89</c:v>
                </c:pt>
                <c:pt idx="2">
                  <c:v>8.44</c:v>
                </c:pt>
                <c:pt idx="3">
                  <c:v>6.81</c:v>
                </c:pt>
                <c:pt idx="4">
                  <c:v>5.45</c:v>
                </c:pt>
                <c:pt idx="5">
                  <c:v>4.18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339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339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12700" cap="flat">
              <a:solidFill>
                <a:srgbClr val="E4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4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this is a DBMS project whose deliverable is a complete, runnable relational model for optimising a multi-echelon warehouse network. Everything in this deck is backed by SQL that executes without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tension: facility, freight and carrying costs pull in opposite directions. Optimising any one of them in isolation makes the total worse.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objectives. Note objective 5 — storing optimizer output as data is what separates this from a script that prints a number and forgets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slide. The right-hand column is not aspirational — every row maps to something physically present in the DDL.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architecture. Point out that the optimization layer reads and writes the same database — its recommendations land in optimization_result, not in a log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Entity-level view. Warehouse, product and location are the three hub entities — almost every module reaches back to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PDF version during the viva if the examiner wants to read attribute names — it is vector, so it zooms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question on why unit_price is duplicated. The answer is temporal: an order is a historical fact and must not change when the price list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inventory table — it is the busiest table in the schema and shows every constraint type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Delhi-Mumbai lanes in the INSERT are the same city pair on different modes. That single pair of rows is what makes mode selection a real optimization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values, straight from 02_sample_data_dml.sql. WH-NAG-01 shows INACTIVE because the post-load UPDATE acted on the optimizer's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Kolkata's insulin position is below safety stock, not just below the reorder point — that is the difference between CRITICAL and REORDER, and it comes straight out of the CASE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schema stores the scenario, the algorithm, the runtime and the outcome — so two algorithms on the same scenario can be compared as data, not as anecdote.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findings all come out of queries, not out of assumptions. If asked, show Q13, Q7, Q10 and Q2 in the SQL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verified figures rather than on ambition: the model runs, the data loads clean, and the 11.28% is reproducible from the files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035040" cy="6035040"/>
          </a:xfrm>
          <a:prstGeom prst="roundRect">
            <a:avLst>
              <a:gd name="adj" fmla="val 7576"/>
            </a:avLst>
          </a:prstGeom>
          <a:solidFill>
            <a:srgbClr val="1B5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5752" y="4389120"/>
            <a:ext cx="3566160" cy="3566160"/>
          </a:xfrm>
          <a:prstGeom prst="ellipse">
            <a:avLst/>
          </a:prstGeom>
          <a:solidFill>
            <a:srgbClr val="2C7A7B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0700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·  MAJOR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Network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System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5295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 model and analytics layer that decides how many warehouses a network should have, where they belong, what each one stocks, and which lane every shipment moves on.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4074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956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54096" y="44074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054096" y="4956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541264" y="44074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541264" y="4956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28432" y="44074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11.28%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028432" y="4956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cost saving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68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724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Aayushman Ghatak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45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 |   October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cost blocks that move in opposite directions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3465576" cy="2395728"/>
          </a:xfrm>
          <a:prstGeom prst="roundRect">
            <a:avLst>
              <a:gd name="adj" fmla="val 3817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79222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cost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0428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rent, staff and handling per warehouse.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9504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Falls when you operate fewer, larger nodes.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Rises with every node you open.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6824" y="1591056"/>
            <a:ext cx="3465576" cy="2395728"/>
          </a:xfrm>
          <a:prstGeom prst="roundRect">
            <a:avLst>
              <a:gd name="adj" fmla="val 3817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810512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56632" y="179222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cost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30428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Freight, tolls, fuel and congestion on every lane.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2889504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Falls when nodes sit close to demand.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Rises when you centralise.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591056"/>
            <a:ext cx="3465576" cy="2395728"/>
          </a:xfrm>
          <a:prstGeom prst="roundRect">
            <a:avLst>
              <a:gd name="adj" fmla="val 3817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1810512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0275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6528" y="179222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carrying cost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230428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locked in stock, at roughly 22% a year.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889504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Falls when you centralise (risk pooling).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Rises when stock is fragmented.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11055096" cy="969264"/>
          </a:xfrm>
          <a:prstGeom prst="roundRect">
            <a:avLst>
              <a:gd name="adj" fmla="val 9434"/>
            </a:avLst>
          </a:prstGeom>
          <a:solidFill>
            <a:srgbClr val="0F3D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4261104"/>
            <a:ext cx="10469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warehouse and freight falls but fixed cost rises and safety stock fragments. Close one and the reverse happens. No single department can see the whole trade-off — which is exactly what a shared database is for.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4132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practice: warehouse siting decided once, by intuition, then left untouched for years — while demand, fuel prices and customer geography all move.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proposed system must be able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04688" cy="1298448"/>
          </a:xfrm>
          <a:prstGeom prst="roundRect">
            <a:avLst>
              <a:gd name="adj" fmla="val 7042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10512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7556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physical network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121408"/>
            <a:ext cx="4498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Facilities, storage zones, SKUs, suppliers, customers, lanes, carriers and fleet in one normalised schema (3NF / BCNF).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36792" y="1572768"/>
            <a:ext cx="5504688" cy="1298448"/>
          </a:xfrm>
          <a:prstGeom prst="roundRect">
            <a:avLst>
              <a:gd name="adj" fmla="val 7042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4536" y="1810512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7453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556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a live, auditable stock position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21408"/>
            <a:ext cx="4498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warehouse-SKU, plus an immutable signed transaction ledger so any historical position can be replayed.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54096"/>
            <a:ext cx="5504688" cy="1298448"/>
          </a:xfrm>
          <a:prstGeom prst="roundRect">
            <a:avLst>
              <a:gd name="adj" fmla="val 7042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291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08176" y="32369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demand and measure the forecast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02736"/>
            <a:ext cx="4498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projection and the realised actual, so MAPE is a queryable column and not a claim.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36792" y="3054096"/>
            <a:ext cx="5504688" cy="1298448"/>
          </a:xfrm>
          <a:prstGeom prst="roundRect">
            <a:avLst>
              <a:gd name="adj" fmla="val 7042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4536" y="3291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74536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2369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lanes and modes on cost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602736"/>
            <a:ext cx="4498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Road, rail, air and multimodal arcs for the same city pair, priced with tolls and a congestion index.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35424"/>
            <a:ext cx="5504688" cy="1298448"/>
          </a:xfrm>
          <a:prstGeom prst="roundRect">
            <a:avLst>
              <a:gd name="adj" fmla="val 7042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77316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08176" y="47183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optimizer output first-class data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408176" y="5084064"/>
            <a:ext cx="4498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runs, algorithms and per-node recommendations are stored — so results are reproducible and comparable.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36792" y="4535424"/>
            <a:ext cx="5504688" cy="1298448"/>
          </a:xfrm>
          <a:prstGeom prst="roundRect">
            <a:avLst>
              <a:gd name="adj" fmla="val 7042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4536" y="477316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74536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7183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 total network cost as one query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084064"/>
            <a:ext cx="4498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function evaluated directly from live tables (Q20), not from a spreadsheet.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 Proposed System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spreadsheet stops working at network scale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9344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23360"/>
                <a:gridCol w="4745736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 (WNOS)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 per warehouse, emailed monthly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normalised MySQL schema, 26 related entities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keyed; no audit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columns + immutable transaction ledger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allocation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warehouse, by habit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method: NEAREST / LOWEST_COST / LOAD_BALANCED / OPTIMIZER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incumbent road carrier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 lanes ranked on effective cost and transit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planning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year plus a percentage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forecast models with stored MAPE per warehouse-SKU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every few years, if at 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+ run + recommendation tables; re-runnable any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by convention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FK constraints, 32 CHECK constraints, 13 indexes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and Technology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with the database as the system of record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7772400" cy="896112"/>
          </a:xfrm>
          <a:prstGeom prst="roundRect">
            <a:avLst>
              <a:gd name="adj" fmla="val 10204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47088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6654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dashboard, warehouse console, KPI reports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1700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10800000">
            <a:off x="4361688" y="2523744"/>
            <a:ext cx="237744" cy="128016"/>
          </a:xfrm>
          <a:prstGeom prst="triangl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660904"/>
            <a:ext cx="7772400" cy="896112"/>
          </a:xfrm>
          <a:prstGeom prst="roundRect">
            <a:avLst>
              <a:gd name="adj" fmla="val 10204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898648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7706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1810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capture, allocation, stock transfer, role-based access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27523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 / Java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10800000">
            <a:off x="4361688" y="3575304"/>
            <a:ext cx="237744" cy="128016"/>
          </a:xfrm>
          <a:prstGeom prst="triangl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712464"/>
            <a:ext cx="7772400" cy="896112"/>
          </a:xfrm>
          <a:prstGeom prst="roundRect">
            <a:avLst>
              <a:gd name="adj" fmla="val 10204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3950208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22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Layer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6966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MILP, Genetic Algorithm, Simulated Annealing, PSO, K-Means siting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3803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· SciPy · scikit-learn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 rot="10800000">
            <a:off x="4361688" y="4626864"/>
            <a:ext cx="237744" cy="128016"/>
          </a:xfrm>
          <a:prstGeom prst="triangl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4764024"/>
            <a:ext cx="7772400" cy="896112"/>
          </a:xfrm>
          <a:prstGeom prst="roundRect">
            <a:avLst>
              <a:gd name="adj" fmla="val 10204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5001768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8737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22122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entities, 3 views, constraints and indexes — the system of record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90288" y="48554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(InnoDB)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613648" y="1609344"/>
            <a:ext cx="3008376" cy="4142232"/>
          </a:xfrm>
          <a:prstGeom prst="roundRect">
            <a:avLst>
              <a:gd name="adj" fmla="val 3040"/>
            </a:avLst>
          </a:prstGeom>
          <a:solidFill>
            <a:srgbClr val="0F3D3E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51392" y="18105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 at a glance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23042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9747504" y="23042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851392" y="287121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9747504" y="287121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851392" y="343814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9747504" y="34381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851392" y="40050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100" dirty="0"/>
          </a:p>
        </p:txBody>
      </p:sp>
      <p:sp>
        <p:nvSpPr>
          <p:cNvPr id="40" name="Text 38"/>
          <p:cNvSpPr txBox="1"/>
          <p:nvPr/>
        </p:nvSpPr>
        <p:spPr>
          <a:xfrm>
            <a:off x="9747504" y="40050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indexes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851392" y="45720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42" name="Text 40"/>
          <p:cNvSpPr txBox="1"/>
          <p:nvPr/>
        </p:nvSpPr>
        <p:spPr>
          <a:xfrm>
            <a:off x="9747504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views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851392" y="51389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100" dirty="0"/>
          </a:p>
        </p:txBody>
      </p:sp>
      <p:sp>
        <p:nvSpPr>
          <p:cNvPr id="44" name="Text 42"/>
          <p:cNvSpPr txBox="1"/>
          <p:nvPr/>
        </p:nvSpPr>
        <p:spPr>
          <a:xfrm>
            <a:off x="9747504" y="5138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ER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entities organised into 7 functional modules</a:t>
            </a:r>
            <a:endParaRPr lang="en-US" sz="1400" dirty="0"/>
          </a:p>
        </p:txBody>
      </p:sp>
      <p:pic>
        <p:nvPicPr>
          <p:cNvPr id="4" name="Image 0" descr="/sessions/jolly-magical-pasteur/mnt/outputs/er_diagram_conceptual_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463040"/>
            <a:ext cx="7644384" cy="47777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655064"/>
            <a:ext cx="182880" cy="1828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Network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· location · warehouse · warehouse_zone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" y="2313432"/>
            <a:ext cx="182880" cy="182880"/>
          </a:xfrm>
          <a:prstGeom prst="ellipse">
            <a:avLst/>
          </a:prstGeom>
          <a:solidFill>
            <a:srgbClr val="8A5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" y="2231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Supply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4871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 · product · supplier · supplier_product · customer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" y="2971800"/>
            <a:ext cx="182880" cy="182880"/>
          </a:xfrm>
          <a:prstGeom prst="ellipse">
            <a:avLst/>
          </a:prstGeom>
          <a:solidFill>
            <a:srgbClr val="2E6F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28895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77824" y="31455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inventory_transaction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" y="3630168"/>
            <a:ext cx="182880" cy="1828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3547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Orders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38039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customer_order · order_line · order_fulfilment · demand_forecast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4288536"/>
            <a:ext cx="182880" cy="182880"/>
          </a:xfrm>
          <a:prstGeom prst="ellipse">
            <a:avLst/>
          </a:prstGeom>
          <a:solidFill>
            <a:srgbClr val="9C6A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7824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77824" y="44622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· vehicle · transport_lane · shipment · shipment_line · stock_transfer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6928" y="4946904"/>
            <a:ext cx="182880" cy="18288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7824" y="4864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77824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optimization_scenario · optimization_run · optimization_result · kpi_snapshot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" y="5605272"/>
            <a:ext cx="182880" cy="182880"/>
          </a:xfrm>
          <a:prstGeom prst="ellipse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7824" y="5522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77824" y="5779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app_user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of the Proposed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level · crow's-foot notation · PK, FK, UQ and generated columns marked</a:t>
            </a:r>
            <a:endParaRPr lang="en-US" sz="1400" dirty="0"/>
          </a:p>
        </p:txBody>
      </p:sp>
      <p:pic>
        <p:nvPicPr>
          <p:cNvPr id="4" name="Image 0" descr="/sessions/jolly-magical-pasteur/mnt/outputs/er_diagram_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444752"/>
            <a:ext cx="10607040" cy="44659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01675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connector = mandatory foreign key.   Dashed connector = optional (nullable) foreign key.   Full-resolution PNG, PDF and SVG are supplied in the diagrams folder.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Design and Normalisation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in BCNF, with two deliberate exceptions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645920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1645920"/>
            <a:ext cx="5632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atomic. Multiple zones, order lines or lanes become rows in child tables — never comma-separated columns.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450592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2505456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2505456"/>
            <a:ext cx="5632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supplier_product (PK = supplier_id + product_id), unit_purchase_cost depends on both parts; supplier_name depends on supplier_id alone, so it stays in supplier.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310128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364992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27632" y="3364992"/>
            <a:ext cx="5632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stores location_id, not city / state / region_name — those depend on location_id, not on warehouse_id.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169664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4224528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4224528"/>
            <a:ext cx="5632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is a candidate key: warehouse_code, sku, order_no and shipment_no are all declared UNIQUE.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99248" y="1591056"/>
            <a:ext cx="3922776" cy="3438144"/>
          </a:xfrm>
          <a:prstGeom prst="roundRect">
            <a:avLst>
              <a:gd name="adj" fmla="val 2660"/>
            </a:avLst>
          </a:prstGeom>
          <a:solidFill>
            <a:srgbClr val="0F3D3E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36992" y="17739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redundancy — on purpose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936992" y="2157984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order_line.unit_price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product.unit_price at the moment of sale. Not a 3NF violation — it is a temporal attribute. Repricing a SKU must not rewrite history.
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columns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qty_available, line_amount and savings_pct are derived, but computed by the engine, so they cannot drift from their inputs.
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customer_order.order_value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materialised aggregate maintained by an explicit UPDATE … JOIN — read speed traded for one extra write.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230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policy:   RESTRICT on master data that transactions point at   ·   CASCADE on true parent-child ownership (warehouse→zone, order→line, run→result)   ·   SET NULL on optional associations (inventory→zone, shipment→vehicle).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— Data Definition Language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01_schema_ddl.sql  ·  26 CREATE TABLE statements, 3 views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6729984" cy="4224528"/>
          </a:xfrm>
          <a:prstGeom prst="roundRect">
            <a:avLst>
              <a:gd name="adj" fmla="val 2165"/>
            </a:avLst>
          </a:prstGeom>
          <a:solidFill>
            <a:srgbClr val="0F3D3E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37360"/>
            <a:ext cx="630936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inventory (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inventory_id     INT     NOT NULL AUTO_INCREMENT,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warehouse_id     INT     NOT NULL,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product_id       INT     NOT NULL,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zone_id          INT     NULL,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qty_on_hand      INT     NOT NULL DEFAULT 0,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qty_reserved     INT     NOT NULL DEFAULT 0,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qty_available    INT AS (qty_on_hand - qty_reserved) STORED,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safety_stock     INT     NOT NULL DEFAULT 0,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reorder_point    INT     NOT NULL DEFAULT 0,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max_stock_level  INT     NOT NULL,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pk_inventory PRIMARY KEY (inventory_id),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uq_inventory_wh_product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UNIQUE (warehouse_id, product_id),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fk_inv_warehouse FOREIGN KEY (warehouse_id)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REFERENCES warehouse (warehouse_id)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 UPDATE CASCADE ON DELETE CASCADE,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fk_inv_zone FOREIGN KEY (zone_id)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REFERENCES warehouse_zone (zone_id)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 UPDATE CASCADE ON DELETE SET NULL,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ck_inv_max_level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 (max_stock_level &gt;= reorder_point)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 = InnoDB;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534656" y="1572768"/>
            <a:ext cx="4087368" cy="969264"/>
          </a:xfrm>
          <a:prstGeom prst="roundRect">
            <a:avLst>
              <a:gd name="adj" fmla="val 9434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54112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column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54112" y="19385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qty_available is stored and maintained by MySQL — application code can never let it disagree with its inputs.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34656" y="2651760"/>
            <a:ext cx="4087368" cy="969264"/>
          </a:xfrm>
          <a:prstGeom prst="roundRect">
            <a:avLst>
              <a:gd name="adj" fmla="val 9434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54112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UNIQUE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54112" y="30175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(warehouse_id, product_id) makes the M:N resolution between warehouse and product structurally impossible to duplicate.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34656" y="3730752"/>
            <a:ext cx="4087368" cy="969264"/>
          </a:xfrm>
          <a:prstGeom prst="roundRect">
            <a:avLst>
              <a:gd name="adj" fmla="val 9434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54112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delete policies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54112" y="40965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from warehouse (the row has no meaning without it), SET NULL from zone (an optional association).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34656" y="4809744"/>
            <a:ext cx="4087368" cy="969264"/>
          </a:xfrm>
          <a:prstGeom prst="roundRect">
            <a:avLst>
              <a:gd name="adj" fmla="val 9434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54112" y="4901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54112" y="51755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across the schema — price ≥ cost, latitude in range, origin ≠ destination, eta &gt; dispatch.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— Sample Dataset Loaded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02_sample_data_dml.sql  ·  339 rows across all 26 tables, 0 foreign-key violations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09344"/>
          <a:ext cx="6492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09344"/>
            <a:ext cx="4306824" cy="2084832"/>
          </a:xfrm>
          <a:prstGeom prst="roundRect">
            <a:avLst>
              <a:gd name="adj" fmla="val 4386"/>
            </a:avLst>
          </a:prstGeom>
          <a:solidFill>
            <a:srgbClr val="0F3D3E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34656" y="1755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representative INSERT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534656" y="2103120"/>
            <a:ext cx="38770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transport_lane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(lane_id, origin_location_id, dest_location_id,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transport_mode, distance_km, transit_time_hours,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base_freight_cost, toll_cost, congestion_index)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( 3, 1, 4, 'ROAD', 1420.00, 34.00, 68500.00,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4200.00, 1.15),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(17, 1, 4, 'RAIL', 1385.00, 42.00, 38900.00,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0.00, 1.00);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7315200" y="3877056"/>
            <a:ext cx="4306824" cy="859536"/>
          </a:xfrm>
          <a:prstGeom prst="roundRect">
            <a:avLst>
              <a:gd name="adj" fmla="val 10638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34656" y="395020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 load time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534656" y="4206240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order_value is inserted as 0.00, then set by UPDATE … JOIN from SUM(line_amount) — the header can never disagree with its lines.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4846320"/>
            <a:ext cx="4306824" cy="859536"/>
          </a:xfrm>
          <a:prstGeom prst="roundRect">
            <a:avLst>
              <a:gd name="adj" fmla="val 10638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34656" y="491947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in the data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534656" y="5175504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converged runs recommend closing WH-NAG-01, so a post-load UPDATE flips its status to INACTIVE.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with Values — Network and Product Master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(8 rows) and product (15 rows), abridged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99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5096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011680"/>
                <a:gridCol w="1371600"/>
                <a:gridCol w="1188720"/>
                <a:gridCol w="1463040"/>
                <a:gridCol w="2048256"/>
                <a:gridCol w="137160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cost/mo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WH-DEL-01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CENTRAL_DC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WH-MUM-01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REGIONAL_DC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5,200,000.00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WH-BLR-01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FULFILMENT_CENTRE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3,900,000.00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WH-KOL-01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REGIONAL_DC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2,750,000.00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WH-NAG-01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CROSS_DOCK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WH-HYD-01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FULFILMENT_CENTRE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3,300,000.00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WH-GUW-01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DARK_STORE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WH-IDR-01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REGIONAL_DC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1,950,000.00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70832"/>
          <a:ext cx="11055096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2606040"/>
                <a:gridCol w="1143000"/>
                <a:gridCol w="1143000"/>
                <a:gridCol w="1298448"/>
                <a:gridCol w="1298448"/>
                <a:gridCol w="153619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m³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SKU-EL-1001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4K Smart LED TV 55 inch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41,999.00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SKU-MB-1002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5G 128GB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19,999.00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SKU-FM-1006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Sunflower Refined Oil 5L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SKU-PH-1010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 Vial 10ml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COLD_CHAIN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SKU-IS-1013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Hydraulic Oil 20L Drum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66928" y="5961888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and volume per unit are what let a shipment be checked against a vehicle's weight AND cube capacity — the two-constraint loading problem. Mumbai carries the network's highest fixed cost at its lowest utilisation (43.66%).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with Values — Inventory and the Reorder Alert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(32 rows) driving query Q3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 ·  qty_available is a generated column: qty_on_hand − qty_reserved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73936"/>
          <a:ext cx="11055096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554480"/>
                <a:gridCol w="1097280"/>
                <a:gridCol w="1097280"/>
                <a:gridCol w="1188720"/>
                <a:gridCol w="1051560"/>
                <a:gridCol w="1234440"/>
                <a:gridCol w="1234440"/>
                <a:gridCol w="1271016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on_hand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 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WH-DEL-01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SKU-EL-1001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WH-DEL-01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SKU-FM-1006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WH-DEL-01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SKU-PH-1009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WH-MUM-01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SKU-PH-1010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WH-KOL-01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SKU-PH-1010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WH-NAG-01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SKU-FM-1006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WH-GUW-01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SKU-PH-1009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950208"/>
            <a:ext cx="6729984" cy="2286000"/>
          </a:xfrm>
          <a:prstGeom prst="roundRect">
            <a:avLst>
              <a:gd name="adj" fmla="val 4000"/>
            </a:avLst>
          </a:prstGeom>
          <a:solidFill>
            <a:srgbClr val="0F3D3E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— Reorder alert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425696"/>
            <a:ext cx="63093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w.warehouse_code, p.sku, i.qty_available,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i.reorder_point,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i.reorder_point - i.qty_available AS shortfall_units,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CASE WHEN i.qty_available &lt;= i.safety_stock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THEN 'CRITICAL' ELSE 'REORDER' END AS alert_level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inventory i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 warehouse w ON w.warehouse_id = i.warehouse_id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 product   p ON p.product_id   = i.product_id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i.qty_available &lt;= i.reorder_point;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7534656" y="3950208"/>
            <a:ext cx="4087368" cy="2286000"/>
          </a:xfrm>
          <a:prstGeom prst="roundRect">
            <a:avLst>
              <a:gd name="adj" fmla="val 4000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— 5 rows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44622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WH-KOL-01 · SKU-PH-1010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9893808" y="4462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short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735056" y="4462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48097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WH-GUW-01 · SKU-PH-1009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893808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short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735056" y="48097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51572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WH-MUM-01 · SKU-PH-1010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893808" y="51572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short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735056" y="51572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5504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WH-NAG-01 · SKU-FM-1006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893808" y="5504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short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735056" y="55046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5852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WH-DEL-01 · SKU-EL-1001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893808" y="5852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short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735056" y="5852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Optimization Engine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runs and recommendations stored as first-class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1883664"/>
          </a:xfrm>
          <a:prstGeom prst="roundRect">
            <a:avLst>
              <a:gd name="adj" fmla="val 4854"/>
            </a:avLst>
          </a:prstGeom>
          <a:solidFill>
            <a:srgbClr val="0F3D3E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82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function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11680"/>
            <a:ext cx="4937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Minimise  Z = Σ fixed facility cost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Σ variable handling cost × units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Σ freight cost per lane-mode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Σ inventory carrying cost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s.t.  demand met · capacity · throughput ·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vehicle weight &amp; cube · SLA hours ·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D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qty_on_hand ≥ safety_stock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930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Q20 evaluates Z directly from the live tables.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what-if scenarios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148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31520"/>
                <a:gridCol w="914400"/>
                <a:gridCol w="868680"/>
                <a:gridCol w="777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+%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FY2026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Season Surge +25%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Shock Stress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Network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272784" y="15544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runs · six algorithms · outcome stored per run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1828800"/>
          <a:ext cx="53492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21792"/>
                <a:gridCol w="1051560"/>
                <a:gridCol w="1051560"/>
                <a:gridCol w="658368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run_label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₹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₹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%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65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Shock MILP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57,390,000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50,914,000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11.28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Season MILP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61,840,000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55,106,000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10.89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MILP Run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48,250,000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44,180,000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8.44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GA Benchmark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48,250,000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44,962,000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6.81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Season Service Max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61,840,000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58,472,000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5.45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Network CO₂ Min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PSO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44,180,000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42,335,000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Network Trial *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44,180,000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44,180,000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3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72784" y="3822192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= Genetic Algorithm · SA = Simulated Annealing · PSO = Particle Swarm.   savings_pct is a generated column, so a run can never be reported with a saving its own cost figures do not support.   * Run 7 returned INFEASIBLE and is kept deliberately — an infeasible run is a result.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72784" y="4498848"/>
            <a:ext cx="5349240" cy="1755648"/>
          </a:xfrm>
          <a:prstGeom prst="roundRect">
            <a:avLst>
              <a:gd name="adj" fmla="val 5208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92240" y="4626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490118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OPEN_NEW  ·  WH-IDR-01 (Indore)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₹3,820,000 projected saving  ·  88.50% confidence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552297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"Indore DC cuts central-region line-haul distance by 21 percent."  MILP and the Genetic Algorithm reached this siting decision independently — MILP in less than half the wall-clock time.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Key Findings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25 analytical queries surfaced from the loaded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633472" cy="1371600"/>
          </a:xfrm>
          <a:prstGeom prst="roundRect">
            <a:avLst>
              <a:gd name="adj" fmla="val 6667"/>
            </a:avLst>
          </a:prstGeom>
          <a:solidFill>
            <a:srgbClr val="0F3D3E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82496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11.28%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494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network cost saving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(Fuel Shock MILP)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9856" y="1554480"/>
            <a:ext cx="2633472" cy="1371600"/>
          </a:xfrm>
          <a:prstGeom prst="roundRect">
            <a:avLst>
              <a:gd name="adj" fmla="val 6667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21024" y="1682496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3.27%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21024" y="22494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forecast MAPE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(LSTM, 3 forecasts)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2784" y="1554480"/>
            <a:ext cx="2633472" cy="1371600"/>
          </a:xfrm>
          <a:prstGeom prst="roundRect">
            <a:avLst>
              <a:gd name="adj" fmla="val 6667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1682496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2494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positions below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 (1 critical)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25712" y="1554480"/>
            <a:ext cx="2633472" cy="1371600"/>
          </a:xfrm>
          <a:prstGeom prst="roundRect">
            <a:avLst>
              <a:gd name="adj" fmla="val 6667"/>
            </a:avLst>
          </a:prstGeom>
          <a:solidFill>
            <a:srgbClr val="EEF4F3"/>
          </a:solidFill>
          <a:ln w="12700">
            <a:solidFill>
              <a:srgbClr val="E2EC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1682496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₹44,705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2494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Delhi–Mumbai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by switching to rail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66928" y="3127248"/>
          <a:ext cx="6309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059168" y="3182112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59168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534656" y="3108960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is the network's clearest anomaly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534656" y="3364992"/>
            <a:ext cx="4087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fixed cost in the network (₹5.2 M/month) at the lowest utilisation (43.66%).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059168" y="3895344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59168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534656" y="3822192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beats the metaheuristics here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534656" y="4078224"/>
            <a:ext cx="4087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 points better than the GA on the identical scenario, in 186 s against 413 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9168" y="4608576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9168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534656" y="4535424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wins the Delhi–Mumbai trunk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34656" y="4791456"/>
            <a:ext cx="4087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₹83,605 by road in 34 h versus ₹38,900 by rail in 42 h — 8 extra hours buys a 53% freight cut.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059168" y="5321808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9168" y="5321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534656" y="5248656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runs agree on closing Nagpur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534656" y="5504688"/>
            <a:ext cx="4087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agreement across MILP, GA and the fuel-shock run is what triggers the status change.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754880" cy="4754880"/>
          </a:xfrm>
          <a:prstGeom prst="ellipse">
            <a:avLst/>
          </a:prstGeom>
          <a:solidFill>
            <a:srgbClr val="1B565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Scope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delivered, and where it goes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B5657"/>
          </a:solidFill>
          <a:ln w="12700">
            <a:solidFill>
              <a:srgbClr val="E2ECE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41248" y="17922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31136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26-entity relational model in BCNF covering the whole physical network, from region down to individual shipment line.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dataset of 339 rows that loads with zero foreign-key violations and satisfies all 32 CHECK constraints.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analytical queries — window functions, recursive-style hierarchy, Haversine distance, centre of gravity, EOQ and ROP.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optimization layer whose scenarios, algorithms and recommendations are stored, versioned and comparable.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best-case network cost reduction of 11.28% under the fuel-shock scenario.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1627632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B5657"/>
          </a:solidFill>
          <a:ln w="12700">
            <a:solidFill>
              <a:srgbClr val="E2ECE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547104" y="17922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47104" y="2267712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47104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86016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telematics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86016" y="245059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GPS and temperature from vehicles into shipment, replacing planned ETAs with observed ones.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547104" y="296265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47104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86016" y="28895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solver integration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86016" y="314553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PuLP / CBC directly to the schema so optimization_run rows are written by the solver itself.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547104" y="3657600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547104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86016" y="3584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demand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384048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point forecasts with distributions and size safety stock on service-level probability.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547104" y="4352544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547104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86016" y="4279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as a hard constraint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86016" y="45354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co2_g_per_km from a reporting column to a binding constraint in the MILP.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547104" y="504748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547104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86016" y="49743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and archival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86016" y="52303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Range-partition inventory_transaction and shipment by date as the ledger grows past millions of rows.</a:t>
            </a:r>
            <a:endParaRPr lang="en-US" sz="98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99846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       Aayushman Ghatak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Network Optimization System</dc:title>
  <dc:subject>PptxGenJS Presentation</dc:subject>
  <dc:creator>Aayushman Ghatak</dc:creator>
  <cp:lastModifiedBy>Aayushman Ghatak</cp:lastModifiedBy>
  <cp:revision>1</cp:revision>
  <dcterms:created xsi:type="dcterms:W3CDTF">2026-10-09T08:49:44Z</dcterms:created>
  <dcterms:modified xsi:type="dcterms:W3CDTF">2026-10-09T08:49:44Z</dcterms:modified>
</cp:coreProperties>
</file>